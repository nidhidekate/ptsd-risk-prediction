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BF5700"/>
          </a:solidFill>
          <a:ln w="12700">
            <a:solidFill>
              <a:srgbClr val="BF57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0"/>
            <a:ext cx="62179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333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ML and LLM Approaches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333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PTSD Risk Prediction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24231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F5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Failure Analysis Study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926080"/>
            <a:ext cx="2286000" cy="27432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06324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Nidhi Dekate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MSAI · University of Texas at Austin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Healthcare · Spring 2026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675120" y="914400"/>
            <a:ext cx="2194560" cy="3108960"/>
          </a:xfrm>
          <a:prstGeom prst="rect">
            <a:avLst/>
          </a:prstGeom>
          <a:solidFill>
            <a:srgbClr val="FDF3EC"/>
          </a:solidFill>
          <a:ln w="12700">
            <a:solidFill>
              <a:srgbClr val="BF57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0" y="1097280"/>
            <a:ext cx="18288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F5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
</a:t>
            </a:r>
            <a:pPr indent="0" marL="0">
              <a:buNone/>
            </a:pPr>
            <a:r>
              <a:rPr lang="en-US" sz="1100" dirty="0">
                <a:solidFill>
                  <a:srgbClr val="333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NHANES 2017–18
</a:t>
            </a:r>
            <a:pPr indent="0" marL="0">
              <a:buNone/>
            </a:pPr>
            <a:r>
              <a:rPr lang="en-US" sz="1100" b="1" dirty="0">
                <a:solidFill>
                  <a:srgbClr val="BF5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
</a:t>
            </a:r>
            <a:pPr indent="0" marL="0">
              <a:buNone/>
            </a:pPr>
            <a:r>
              <a:rPr lang="en-US" sz="1100" dirty="0">
                <a:solidFill>
                  <a:srgbClr val="333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· RF · XGBoost
+ Llama 3 70B
</a:t>
            </a:r>
            <a:pPr indent="0" marL="0">
              <a:buNone/>
            </a:pPr>
            <a:r>
              <a:rPr lang="en-US" sz="1100" b="1" dirty="0">
                <a:solidFill>
                  <a:srgbClr val="BF5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
</a:t>
            </a:r>
            <a:pPr indent="0" marL="0">
              <a:buNone/>
            </a:pPr>
            <a:r>
              <a:rPr lang="en-US" sz="1100" dirty="0">
                <a:solidFill>
                  <a:srgbClr val="333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Interpretability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Debate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BF5700"/>
          </a:solidFill>
          <a:ln w="12700">
            <a:solidFill>
              <a:srgbClr val="BF57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was trying to find out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8229600" cy="18288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457200" cy="685800"/>
          </a:xfrm>
          <a:prstGeom prst="rect">
            <a:avLst/>
          </a:prstGeom>
          <a:solidFill>
            <a:srgbClr val="BF5700"/>
          </a:solidFill>
          <a:ln w="12700">
            <a:solidFill>
              <a:srgbClr val="BF57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914400"/>
            <a:ext cx="8229600" cy="685800"/>
          </a:xfrm>
          <a:prstGeom prst="rect">
            <a:avLst/>
          </a:prstGeom>
          <a:solidFill>
            <a:srgbClr val="F0F0F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987552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 general-purpose LLM predict PTSD risk from structured survey data as well as a trained ML model?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457200" cy="685800"/>
          </a:xfrm>
          <a:prstGeom prst="rect">
            <a:avLst/>
          </a:prstGeom>
          <a:solidFill>
            <a:srgbClr val="333F48"/>
          </a:solidFill>
          <a:ln w="12700">
            <a:solidFill>
              <a:srgbClr val="333F4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920240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22960" y="1920240"/>
            <a:ext cx="8229600" cy="685800"/>
          </a:xfrm>
          <a:prstGeom prst="rect">
            <a:avLst/>
          </a:prstGeom>
          <a:solidFill>
            <a:srgbClr val="F0F0F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1993392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not — where exactly does it fail, and is the failure random or systematic?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2926080"/>
            <a:ext cx="457200" cy="685800"/>
          </a:xfrm>
          <a:prstGeom prst="rect">
            <a:avLst/>
          </a:prstGeom>
          <a:solidFill>
            <a:srgbClr val="BF5700"/>
          </a:solidFill>
          <a:ln w="12700">
            <a:solidFill>
              <a:srgbClr val="BF57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926080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22960" y="2926080"/>
            <a:ext cx="8229600" cy="685800"/>
          </a:xfrm>
          <a:prstGeom prst="rect">
            <a:avLst/>
          </a:prstGeom>
          <a:solidFill>
            <a:srgbClr val="F0F0F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2999232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LLM explanations actually faithful to what SHAP says matters for each patient?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3931920"/>
            <a:ext cx="457200" cy="685800"/>
          </a:xfrm>
          <a:prstGeom prst="rect">
            <a:avLst/>
          </a:prstGeom>
          <a:solidFill>
            <a:srgbClr val="333F48"/>
          </a:solidFill>
          <a:ln w="12700">
            <a:solidFill>
              <a:srgbClr val="333F4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931920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22960" y="3931920"/>
            <a:ext cx="8229600" cy="685800"/>
          </a:xfrm>
          <a:prstGeom prst="rect">
            <a:avLst/>
          </a:prstGeom>
          <a:solidFill>
            <a:srgbClr val="F0F0F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4005072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 two-LLM debate fix the errors that single prompting cannot?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BF5700"/>
          </a:solidFill>
          <a:ln w="12700">
            <a:solidFill>
              <a:srgbClr val="BF57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— NHANES 2017–2018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8229600" cy="18288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F5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files merged on SEQN: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57200" y="1170432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Depression (DPQ), Demographics (DEMO),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Alcohol (ALQ), Sleep (SLQ)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3931920" cy="9144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87452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F5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dataset: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2130552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5,065 patients · 22 features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743200"/>
            <a:ext cx="3931920" cy="9144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83464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F5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I created: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" y="3090672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PHQ-9 total ≥ 10 = high risk (1)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clinical cutoff for moderate depression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703320"/>
            <a:ext cx="3931920" cy="9144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79476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F5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balance: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7200" y="4050792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8.3% high risk · 91.7% low risk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used F1 and AUC, not accuracy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526280"/>
            <a:ext cx="4114800" cy="411480"/>
          </a:xfrm>
          <a:prstGeom prst="rect">
            <a:avLst/>
          </a:prstGeom>
          <a:solidFill>
            <a:srgbClr val="FDF3EC"/>
          </a:solidFill>
          <a:ln w="12700">
            <a:solidFill>
              <a:srgbClr val="BF57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45720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F5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PHQ-9 measures depression, not PTSD directly — used as a validated proxy since NHANES has no PTSD diagnosis label.</a:t>
            </a:r>
            <a:endParaRPr lang="en-US" sz="1000" dirty="0"/>
          </a:p>
        </p:txBody>
      </p:sp>
      <p:pic>
        <p:nvPicPr>
          <p:cNvPr id="18" name="Image 0" descr="/home/claude/label_dis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645920"/>
            <a:ext cx="4206240" cy="168249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BF5700"/>
          </a:solidFill>
          <a:ln w="12700">
            <a:solidFill>
              <a:srgbClr val="BF57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built and how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8229600" cy="18288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14400"/>
            <a:ext cx="502920" cy="1097280"/>
          </a:xfrm>
          <a:prstGeom prst="rect">
            <a:avLst/>
          </a:prstGeom>
          <a:solidFill>
            <a:srgbClr val="333F48"/>
          </a:solidFill>
          <a:ln w="12700">
            <a:solidFill>
              <a:srgbClr val="333F4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14400"/>
            <a:ext cx="502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100584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+ Preprocessing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1298448"/>
            <a:ext cx="3429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Explored NHANES data, handled missing values, one-hot encoded categories, scaled for LR only, 80/20 stratified split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224028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240280"/>
            <a:ext cx="502920" cy="1097280"/>
          </a:xfrm>
          <a:prstGeom prst="rect">
            <a:avLst/>
          </a:prstGeom>
          <a:solidFill>
            <a:srgbClr val="333F48"/>
          </a:solidFill>
          <a:ln w="12700">
            <a:solidFill>
              <a:srgbClr val="333F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240280"/>
            <a:ext cx="502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233172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ML Baselines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2624328"/>
            <a:ext cx="3429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· Random Forest · XGBoost + SHAP (top-3 features per patient saved for prompting)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356616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3566160"/>
            <a:ext cx="502920" cy="1097280"/>
          </a:xfrm>
          <a:prstGeom prst="rect">
            <a:avLst/>
          </a:prstGeom>
          <a:solidFill>
            <a:srgbClr val="333F48"/>
          </a:solidFill>
          <a:ln w="12700">
            <a:solidFill>
              <a:srgbClr val="333F4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566160"/>
            <a:ext cx="502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60120" y="365760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Experiments — 8 total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0120" y="3950208"/>
            <a:ext cx="3429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formats (Basic, Sentence, Clinical, SHAP-guided) × 2 styles (zero-shot, few-shot) on 200 test patients via Groq API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54880" y="91440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0" y="914400"/>
            <a:ext cx="502920" cy="1097280"/>
          </a:xfrm>
          <a:prstGeom prst="rect">
            <a:avLst/>
          </a:prstGeom>
          <a:solidFill>
            <a:srgbClr val="333F48"/>
          </a:solidFill>
          <a:ln w="12700">
            <a:solidFill>
              <a:srgbClr val="333F4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914400"/>
            <a:ext cx="502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49240" y="100584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Analysis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49240" y="1298448"/>
            <a:ext cx="3429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which patients LLM got wrong, looked for patterns — turned out all errors were at PHQ 8–9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54880" y="224028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54880" y="2240280"/>
            <a:ext cx="502920" cy="1097280"/>
          </a:xfrm>
          <a:prstGeom prst="rect">
            <a:avLst/>
          </a:prstGeom>
          <a:solidFill>
            <a:srgbClr val="333F48"/>
          </a:solidFill>
          <a:ln w="12700">
            <a:solidFill>
              <a:srgbClr val="333F4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2240280"/>
            <a:ext cx="502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49240" y="233172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Interpretability + Debate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349240" y="2624328"/>
            <a:ext cx="3429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Asked LLM to explain predictions, checked against SHAP. Then ran two-LLM debate on borderline cases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BF5700"/>
          </a:solidFill>
          <a:ln w="12700">
            <a:solidFill>
              <a:srgbClr val="BF57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looks like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8229600" cy="18288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686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things that stood out in EDA: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54864" cy="822960"/>
          </a:xfrm>
          <a:prstGeom prst="rect">
            <a:avLst/>
          </a:prstGeom>
          <a:solidFill>
            <a:srgbClr val="BF5700"/>
          </a:solidFill>
          <a:ln w="12700">
            <a:solidFill>
              <a:srgbClr val="BF57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23444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PHQ questions dominate everything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58368" y="152704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with label: 0.39–0.63. Age, income, sleep — near zero individually. This predicts what the models will do.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423160"/>
            <a:ext cx="54864" cy="822960"/>
          </a:xfrm>
          <a:prstGeom prst="rect">
            <a:avLst/>
          </a:prstGeom>
          <a:solidFill>
            <a:srgbClr val="BF5700"/>
          </a:solidFill>
          <a:ln w="12700">
            <a:solidFill>
              <a:srgbClr val="BF57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42316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is real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8368" y="271576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91.7% low risk, 8.3% high risk. Accuracy is useless here — a model saying 'everyone is fine' gets 91% and catches nobody.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611880"/>
            <a:ext cx="54864" cy="822960"/>
          </a:xfrm>
          <a:prstGeom prst="rect">
            <a:avLst/>
          </a:prstGeom>
          <a:solidFill>
            <a:srgbClr val="BF5700"/>
          </a:solidFill>
          <a:ln w="12700">
            <a:solidFill>
              <a:srgbClr val="BF57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361188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gap exists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390448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Females are roughly 2x more likely to be high risk in this dataset. Consistent with clinical research on depression rates.</a:t>
            </a:r>
            <a:endParaRPr lang="en-US" sz="1100" dirty="0"/>
          </a:p>
        </p:txBody>
      </p:sp>
      <p:pic>
        <p:nvPicPr>
          <p:cNvPr id="15" name="Image 0" descr="/home/claude/phq_by_lab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554480"/>
            <a:ext cx="4206240" cy="21031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BF5700"/>
          </a:solidFill>
          <a:ln w="12700">
            <a:solidFill>
              <a:srgbClr val="BF57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 results — all three did really well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8229600" cy="18288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6868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thing I didn't expect: Logistic Regression won. It makes sense in hindsight — PHQ questions are both features and the basis of the label, so a linear model finds a near-perfect boundary. Not leakage, but the signal is very strong.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97280" y="1691640"/>
          <a:ext cx="6949440" cy="2377440"/>
        </p:xfrm>
        <a:graphic>
          <a:graphicData uri="http://schemas.openxmlformats.org/drawingml/2006/table">
            <a:tbl>
              <a:tblPr/>
              <a:tblGrid>
                <a:gridCol w="2926080"/>
                <a:gridCol w="1371600"/>
                <a:gridCol w="1371600"/>
                <a:gridCol w="1371600"/>
              </a:tblGrid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Macro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8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F57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F57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F57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Macro is the metric that matters here — accuracy would mislead because of class imbalance.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BF5700"/>
          </a:solidFill>
          <a:ln w="12700">
            <a:solidFill>
              <a:srgbClr val="BF57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vs LLM — the gap is real but the LLM isn't terrible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8229600" cy="18288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pic>
        <p:nvPicPr>
          <p:cNvPr id="5" name="Image 0" descr="/home/claude/final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5943600" cy="247802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675120" y="1005840"/>
            <a:ext cx="2194560" cy="1051560"/>
          </a:xfrm>
          <a:prstGeom prst="rect">
            <a:avLst/>
          </a:prstGeom>
          <a:solidFill>
            <a:srgbClr val="F0F0F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675120" y="1078992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33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0.84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6675120" y="1536192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LLM F1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(F1 zero-shot)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675120" y="2286000"/>
            <a:ext cx="2194560" cy="1051560"/>
          </a:xfrm>
          <a:prstGeom prst="rect">
            <a:avLst/>
          </a:prstGeom>
          <a:solidFill>
            <a:srgbClr val="F0F0F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675120" y="2359152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F5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0.94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6675120" y="2816352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F1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(our baseline)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675120" y="3566160"/>
            <a:ext cx="2194560" cy="1051560"/>
          </a:xfrm>
          <a:prstGeom prst="rect">
            <a:avLst/>
          </a:prstGeom>
          <a:solidFill>
            <a:srgbClr val="F0F0F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675120" y="3639312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~0.10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6675120" y="4096512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(consistent)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achieved 0.84 F1 with zero training on this data. That's actually pretty impressive — but ML models are clearly better.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BF5700"/>
          </a:solidFill>
          <a:ln w="12700">
            <a:solidFill>
              <a:srgbClr val="BF57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LLM fails — and it's not random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8229600" cy="18288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pic>
        <p:nvPicPr>
          <p:cNvPr id="5" name="Image 0" descr="/home/claude/failure_analys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371600"/>
            <a:ext cx="5669280" cy="18928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17920" y="8686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finding: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217920" y="1325880"/>
            <a:ext cx="2743200" cy="987552"/>
          </a:xfrm>
          <a:prstGeom prst="rect">
            <a:avLst/>
          </a:prstGeom>
          <a:solidFill>
            <a:srgbClr val="F0F0F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217920" y="138988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33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6217920" y="180136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false negatives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217920" y="2514600"/>
            <a:ext cx="2743200" cy="987552"/>
          </a:xfrm>
          <a:prstGeom prst="rect">
            <a:avLst/>
          </a:prstGeom>
          <a:solidFill>
            <a:srgbClr val="FDF3EC"/>
          </a:solidFill>
          <a:ln w="12700">
            <a:solidFill>
              <a:srgbClr val="BF57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217920" y="257860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F5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8–9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6217920" y="299008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PHQ score of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single error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217920" y="3703320"/>
            <a:ext cx="2743200" cy="987552"/>
          </a:xfrm>
          <a:prstGeom prst="rect">
            <a:avLst/>
          </a:prstGeom>
          <a:solidFill>
            <a:srgbClr val="F0F0F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217920" y="376732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33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9/12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6217920" y="417880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failed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formats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217920" y="47091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treats PHQ=9 as clinically concerning (reasonable medically) but our label says low risk because 9 &lt; 10.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BF5700"/>
          </a:solidFill>
          <a:ln w="12700">
            <a:solidFill>
              <a:srgbClr val="BF57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trust LLM explanations? (Interpretability)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8229600" cy="18288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68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asked the LLM to predict AND explain its reasoning for the 15 high-risk patients, then checked if the explanation matched what SHAP said actually mattered.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2651760" cy="1143000"/>
          </a:xfrm>
          <a:prstGeom prst="rect">
            <a:avLst/>
          </a:prstGeom>
          <a:solidFill>
            <a:srgbClr val="F0F0F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600200"/>
            <a:ext cx="2651760" cy="64008"/>
          </a:xfrm>
          <a:prstGeom prst="rect">
            <a:avLst/>
          </a:prstGeom>
          <a:solidFill>
            <a:srgbClr val="333F48"/>
          </a:solidFill>
          <a:ln w="12700">
            <a:solidFill>
              <a:srgbClr val="333F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7373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33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" y="22402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accuracy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high-risk patients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0" y="1600200"/>
            <a:ext cx="2651760" cy="1143000"/>
          </a:xfrm>
          <a:prstGeom prst="rect">
            <a:avLst/>
          </a:prstGeom>
          <a:solidFill>
            <a:srgbClr val="F0F0F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1600200"/>
            <a:ext cx="2651760" cy="64008"/>
          </a:xfrm>
          <a:prstGeom prst="rect">
            <a:avLst/>
          </a:prstGeom>
          <a:solidFill>
            <a:srgbClr val="BF5700"/>
          </a:solidFill>
          <a:ln w="12700">
            <a:solidFill>
              <a:srgbClr val="BF57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17373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F5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200400" y="22402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on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PHQ &gt; 12 (severe)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35040" y="1600200"/>
            <a:ext cx="2651760" cy="1143000"/>
          </a:xfrm>
          <a:prstGeom prst="rect">
            <a:avLst/>
          </a:prstGeom>
          <a:solidFill>
            <a:srgbClr val="F0F0F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35040" y="1600200"/>
            <a:ext cx="2651760" cy="64008"/>
          </a:xfrm>
          <a:prstGeom prst="rect">
            <a:avLst/>
          </a:prstGeom>
          <a:solidFill>
            <a:srgbClr val="333F48"/>
          </a:solidFill>
          <a:ln w="12700">
            <a:solidFill>
              <a:srgbClr val="333F4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0" y="17373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33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035040" y="22402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on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PHQ 10–12 (borderline)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3063240"/>
            <a:ext cx="2651760" cy="1143000"/>
          </a:xfrm>
          <a:prstGeom prst="rect">
            <a:avLst/>
          </a:prstGeom>
          <a:solidFill>
            <a:srgbClr val="F0F0F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063240"/>
            <a:ext cx="2651760" cy="64008"/>
          </a:xfrm>
          <a:prstGeom prst="rect">
            <a:avLst/>
          </a:prstGeom>
          <a:solidFill>
            <a:srgbClr val="BF5700"/>
          </a:solidFill>
          <a:ln w="12700">
            <a:solidFill>
              <a:srgbClr val="BF57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2004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F5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0.69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365760" y="37033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faithfulness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 of 3 SHAP features mentioned)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00400" y="3063240"/>
            <a:ext cx="2651760" cy="1143000"/>
          </a:xfrm>
          <a:prstGeom prst="rect">
            <a:avLst/>
          </a:prstGeom>
          <a:solidFill>
            <a:srgbClr val="F0F0F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3063240"/>
            <a:ext cx="2651760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0" y="32004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2/15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3200400" y="37033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"Right for wrong reasons"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pred, wrong explanation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57200" y="47091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"Right for wrong reasons" is a clinical safety concern — a doctor trusting the LLM's explanation might focus on the wrong symptoms.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BF5700"/>
          </a:solidFill>
          <a:ln w="12700">
            <a:solidFill>
              <a:srgbClr val="BF57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two LLMs arguing fix the borderline cases? (Debate)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8229600" cy="18288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686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12 patients with PHQ 8–9 that failed every single prompt format — I tried something different. One LLM argues high risk, another argues low risk, a third acts as judge.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2651760" cy="1005840"/>
          </a:xfrm>
          <a:prstGeom prst="rect">
            <a:avLst/>
          </a:prstGeom>
          <a:solidFill>
            <a:srgbClr val="F0F0F0"/>
          </a:solidFill>
          <a:ln w="254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4592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Argues HIGH risk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74720" y="1645920"/>
            <a:ext cx="2651760" cy="1005840"/>
          </a:xfrm>
          <a:prstGeom prst="rect">
            <a:avLst/>
          </a:prstGeom>
          <a:solidFill>
            <a:srgbClr val="F0F0F0"/>
          </a:solidFill>
          <a:ln w="25400">
            <a:solidFill>
              <a:srgbClr val="1E844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0" y="164592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B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Argues LOW risk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0" y="1645920"/>
            <a:ext cx="2651760" cy="1005840"/>
          </a:xfrm>
          <a:prstGeom prst="rect">
            <a:avLst/>
          </a:prstGeom>
          <a:solidFill>
            <a:srgbClr val="F0F0F0"/>
          </a:solidFill>
          <a:ln w="25400">
            <a:solidFill>
              <a:srgbClr val="333F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164592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3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Judge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333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verdict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108960" y="2075688"/>
            <a:ext cx="365760" cy="137160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26480" y="2075688"/>
            <a:ext cx="274320" cy="137160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28800" y="2971800"/>
            <a:ext cx="5486400" cy="1188720"/>
          </a:xfrm>
          <a:prstGeom prst="rect">
            <a:avLst/>
          </a:prstGeom>
          <a:solidFill>
            <a:srgbClr val="FDF3EC"/>
          </a:solidFill>
          <a:ln w="12700">
            <a:solidFill>
              <a:srgbClr val="BF57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28800" y="306324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F5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0 / 12 correct verdicts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828800" y="3493008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as single-prompt performance. The judge sided with high risk every time, even after hearing a well-reasoned low-risk argument.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The LLM's clinical conservatism is deeply embedded. Debate, few-shot, SHAP-guidance — none of it fixed the borderline PHQ problem.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BF5700"/>
          </a:solidFill>
          <a:ln w="12700">
            <a:solidFill>
              <a:srgbClr val="BF57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— being honest about what this isn't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8229600" cy="18288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14400"/>
            <a:ext cx="4114800" cy="54864"/>
          </a:xfrm>
          <a:prstGeom prst="rect">
            <a:avLst/>
          </a:prstGeom>
          <a:solidFill>
            <a:srgbClr val="BF5700"/>
          </a:solidFill>
          <a:ln w="12700">
            <a:solidFill>
              <a:srgbClr val="BF57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2412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PHQ-9 is a proxy, not a PTSD diagnosis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325880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label comes from a depression screener. PHQ and PTSD are related but clinically different.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19456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194560"/>
            <a:ext cx="4114800" cy="54864"/>
          </a:xfrm>
          <a:prstGeom prst="rect">
            <a:avLst/>
          </a:prstGeom>
          <a:solidFill>
            <a:srgbClr val="BF5700"/>
          </a:solidFill>
          <a:ln w="12700">
            <a:solidFill>
              <a:srgbClr val="BF57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30428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200 patients for LLM experiments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2606040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API rate limits forced a sample. Full test set (1013 patients) was not feasible.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47472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3474720"/>
            <a:ext cx="4114800" cy="54864"/>
          </a:xfrm>
          <a:prstGeom prst="rect">
            <a:avLst/>
          </a:prstGeom>
          <a:solidFill>
            <a:srgbClr val="BF5700"/>
          </a:solidFill>
          <a:ln w="12700">
            <a:solidFill>
              <a:srgbClr val="BF57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58444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fine-tuning on the LLM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3886200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 70B used general knowledge only. A fine-tuned clinical model would likely behave differently.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91440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0" y="914400"/>
            <a:ext cx="4114800" cy="54864"/>
          </a:xfrm>
          <a:prstGeom prst="rect">
            <a:avLst/>
          </a:prstGeom>
          <a:solidFill>
            <a:srgbClr val="BF5700"/>
          </a:solidFill>
          <a:ln w="12700">
            <a:solidFill>
              <a:srgbClr val="BF57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102412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Tabular-to-text loses structure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92040" y="1325880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Converting a row to text is imperfect. Complex formats (F3/F4) caused the LLM to stop outputting clean 0/1.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219456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0" y="2194560"/>
            <a:ext cx="4114800" cy="54864"/>
          </a:xfrm>
          <a:prstGeom prst="rect">
            <a:avLst/>
          </a:prstGeom>
          <a:solidFill>
            <a:srgbClr val="BF5700"/>
          </a:solidFill>
          <a:ln w="12700">
            <a:solidFill>
              <a:srgbClr val="BF57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230428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Faithfulness = keyword matching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92040" y="2606040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if the LLM mentioned the right feature names is a rough proxy for true reasoning alignment.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BF5700"/>
          </a:solidFill>
          <a:ln w="12700">
            <a:solidFill>
              <a:srgbClr val="BF57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found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8229600" cy="18288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68680"/>
            <a:ext cx="4114800" cy="1737360"/>
          </a:xfrm>
          <a:prstGeom prst="rect">
            <a:avLst/>
          </a:prstGeom>
          <a:solidFill>
            <a:srgbClr val="F0F0F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05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F5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78992" y="1005840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33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beats LLM on tabular clinical data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02920" y="1463040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F1=0.940 vs best LLM F1=0.840. Not surprising — but the gap is consistent across all prompt styles.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2880360"/>
            <a:ext cx="4114800" cy="1737360"/>
          </a:xfrm>
          <a:prstGeom prst="rect">
            <a:avLst/>
          </a:prstGeom>
          <a:solidFill>
            <a:srgbClr val="F0F0F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3017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F5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78992" y="3017520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33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failures aren't random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02920" y="3474720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single error landed on PHQ 8–9, just below the threshold. Format, few-shot, SHAP context — none of it helped.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754880" y="868680"/>
            <a:ext cx="4114800" cy="1737360"/>
          </a:xfrm>
          <a:prstGeom prst="rect">
            <a:avLst/>
          </a:prstGeom>
          <a:solidFill>
            <a:srgbClr val="F0F0F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1005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F5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68112" y="1005840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33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for wrong reasons exists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892040" y="1463040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can predict correctly but explain using the wrong features. That's a clinical safety issue, not just an accuracy issue.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754880" y="2880360"/>
            <a:ext cx="4114800" cy="1737360"/>
          </a:xfrm>
          <a:prstGeom prst="rect">
            <a:avLst/>
          </a:prstGeom>
          <a:solidFill>
            <a:srgbClr val="F0F0F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3017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F5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468112" y="3017520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33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Debate doesn't fix threshold bias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892040" y="3474720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LLMs arguing didn't resolve borderline cases. The judge always sided with clinical conservatism.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333F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BF5700"/>
          </a:solidFill>
          <a:ln w="12700">
            <a:solidFill>
              <a:srgbClr val="BF57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169164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F5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 could redo this: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103120"/>
            <a:ext cx="7315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a smaller LLM on NHANES so it learns the PHQ threshold from examples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actual PTSD diagnosis labels instead of the PHQ proxy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medical-specific LLMs like Med-PaLM — general knowledge may not be enough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full 1013-patient LLM experiments, not just 200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297680"/>
            <a:ext cx="9144000" cy="845820"/>
          </a:xfrm>
          <a:prstGeom prst="rect">
            <a:avLst/>
          </a:prstGeom>
          <a:solidFill>
            <a:srgbClr val="BF5700"/>
          </a:solidFill>
          <a:ln w="12700">
            <a:solidFill>
              <a:srgbClr val="BF57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370832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github.com/NidhiDekate/PTSD-Risk-Prediction  ·  Nidhi Dekate · MSAI · UT Austin · Spring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PTSD Risk Prediction - ML vs LLM</dc:title>
  <dc:subject>PptxGenJS Presentation</dc:subject>
  <dc:creator>Nidhi Dekate</dc:creator>
  <cp:lastModifiedBy>Nidhi Dekate</cp:lastModifiedBy>
  <cp:revision>1</cp:revision>
  <dcterms:created xsi:type="dcterms:W3CDTF">2026-04-02T01:59:17Z</dcterms:created>
  <dcterms:modified xsi:type="dcterms:W3CDTF">2026-04-02T01:59:17Z</dcterms:modified>
</cp:coreProperties>
</file>